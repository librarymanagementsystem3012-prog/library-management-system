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556346"/>
            <a:ext cx="10362895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rPr dirty="0" err="1"/>
              <a:t>B.Tech</a:t>
            </a:r>
            <a:r>
              <a:rPr dirty="0"/>
              <a:t> CSE </a:t>
            </a:r>
            <a:r>
              <a:rPr dirty="0" smtClean="0"/>
              <a:t>Project</a:t>
            </a:r>
            <a:endParaRPr dirty="0"/>
          </a:p>
          <a:p>
            <a:pPr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rPr dirty="0"/>
              <a:t>LIBRARY MANAGEMENT SYSTEM</a:t>
            </a:r>
          </a:p>
          <a:p>
            <a:pPr>
              <a:spcBef>
                <a:spcPts val="1000"/>
              </a:spcBef>
              <a:defRPr sz="1700">
                <a:solidFill>
                  <a:srgbClr val="CBD5E1"/>
                </a:solidFill>
              </a:defRPr>
            </a:pPr>
            <a:r>
              <a:rPr dirty="0"/>
              <a:t>A Modern Full-Stack Web Application with Automated Circulation, Dynamic Fine Calculation, and Email Notification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10362895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CORE TECHNOLOGY STACK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React.js (Frontend)  •  Node.js &amp; Express.js (Backend)  •  MySQL (Relational Database)  •  Nodemailer (Gmail SMTP)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3454664" cy="10926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rPr dirty="0"/>
              <a:t>Department of Computer Science &amp; </a:t>
            </a:r>
            <a:r>
              <a:rPr dirty="0" smtClean="0"/>
              <a:t>Engineering</a:t>
            </a:r>
            <a:endParaRPr lang="en-IN" dirty="0" smtClean="0"/>
          </a:p>
          <a:p>
            <a:pPr>
              <a:defRPr sz="1300">
                <a:solidFill>
                  <a:srgbClr val="94A3B8"/>
                </a:solidFill>
              </a:defRPr>
            </a:pPr>
            <a:endParaRPr lang="en-IN" dirty="0"/>
          </a:p>
          <a:p>
            <a:pPr>
              <a:defRPr sz="1300">
                <a:solidFill>
                  <a:srgbClr val="94A3B8"/>
                </a:solidFill>
              </a:defRPr>
            </a:pPr>
            <a:endParaRPr lang="en-IN" dirty="0" smtClean="0"/>
          </a:p>
          <a:p>
            <a:pPr>
              <a:defRPr sz="1300">
                <a:solidFill>
                  <a:srgbClr val="94A3B8"/>
                </a:solidFill>
              </a:defRPr>
            </a:pPr>
            <a:endParaRPr lang="en-IN" dirty="0"/>
          </a:p>
          <a:p>
            <a:pPr>
              <a:defRPr sz="1300">
                <a:solidFill>
                  <a:srgbClr val="94A3B8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B.TECH CSE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Introduction &amp;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Library Management System | React.js • Node.js • MySQL • Nodemailer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The Modern Academic Library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Role in Universities:</a:t>
            </a:r>
            <a:r>
              <a:rPr sz="1300">
                <a:solidFill>
                  <a:srgbClr val="64748B"/>
                </a:solidFill>
              </a:rPr>
              <a:t> Libraries form the knowledge backbone of higher education, managing thousands of volumes and high daily circulation volumes.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Digital Transformation:</a:t>
            </a:r>
            <a:r>
              <a:rPr sz="1300">
                <a:solidFill>
                  <a:srgbClr val="64748B"/>
                </a:solidFill>
              </a:rPr>
              <a:t> Transitioning from manual logbooks and static spreadsheets to intelligent, connected, and automated web platforms.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Need for Speed &amp; Transparency:</a:t>
            </a:r>
            <a:r>
              <a:rPr sz="1300">
                <a:solidFill>
                  <a:srgbClr val="64748B"/>
                </a:solidFill>
              </a:rPr>
              <a:t> Students require immediate visibility into book availability, due dates, and transparent penalty calculations.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Project Motivation &amp; Solution Scope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Unified Web Architecture:</a:t>
            </a:r>
            <a:r>
              <a:rPr sz="1300">
                <a:solidFill>
                  <a:srgbClr val="64748B"/>
                </a:solidFill>
              </a:rPr>
              <a:t> Provides a complete web interface for librarians with secure administrative authentication.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Synchronized Data Tier:</a:t>
            </a:r>
            <a:r>
              <a:rPr sz="1300">
                <a:solidFill>
                  <a:srgbClr val="64748B"/>
                </a:solidFill>
              </a:rPr>
              <a:t> MySQL database guarantees ACID transaction compliance for all book stock updates and circulation records.</a:t>
            </a:r>
          </a:p>
          <a:p>
            <a:pPr>
              <a:spcBef>
                <a:spcPts val="1200"/>
              </a:spcBef>
            </a:pPr>
            <a:r>
              <a:rPr sz="1300" b="1">
                <a:solidFill>
                  <a:srgbClr val="1E293B"/>
                </a:solidFill>
              </a:rPr>
              <a:t>• Zero-Failure Notifications:</a:t>
            </a:r>
            <a:r>
              <a:rPr sz="1300">
                <a:solidFill>
                  <a:srgbClr val="64748B"/>
                </a:solidFill>
              </a:rPr>
              <a:t> Automated Nodemailer Gmail SMTP integration dispatches issue confirmations, return receipts, and daily due-date reminders.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B.TECH CSE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Problem Statement &amp; Operational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Library Management System | React.js • Node.js • MySQL • Nodemailer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3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01. Manual Paper Records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Prone to human entry error, lost physical registers, and slow search retrieval during peak counter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02. Untracked Overdue Loans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Students forget due dates without advance reminders, leading to overdue delays and lost institutional books.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03. Arbitrary Fine Calculation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Manual late fee tallying causes disputes; lack of an automated mathematical penalty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04. Communication Disconnect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Librarians lack automated notification pipelines to communicate checkout and return receipts to student emails.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B.TECH CSE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Project Objectives &amp; System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Library Management System | React.js • Node.js • MySQL • Nodemailer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4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✓  Full Catalog CRUD Operations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Add, inspect, search, live filter, edit, and delete book titles with automatic inventory calculations (Total, Available, Issued).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✓  Verified Student Registry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Store student names, verified university emails, and phone numbers with regex validation for automated notification dispatch.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✓  Circulation &amp; Stock Control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Check out books with automatic stock decrement, due-date allocation, and instant confirmation email dispatch.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01752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✓  Dynamic Fine Engine (₹50/Day)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Compute fines accurately as ₹50 × overdue days if returned past due date; zero fine if on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✓  Automated Due Reminders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Scheduled background cron job scans loans daily at 9:00 AM and emails students whose books are due tomorrow.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66344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✓  Visual Analytics Dashboard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Render real-time interactive Chart.js graphs displaying availability ratios, subject metrics, and monthly loan trends.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B.TECH CSE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Full-Stack 3-Tier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Library Management System | React.js • Node.js • MySQL • Nodemailer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5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PRESENTATION TIER</a:t>
            </a:r>
            <a:br/>
            <a:r>
              <a:t>(React.js + Vite)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Single Page Application (SPA)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React Router protected navigation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Axios API service layer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Chart.js visual analytics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Bootstrap 5 responsive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3832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APPLICATION TIER</a:t>
            </a:r>
            <a:br/>
            <a:r>
              <a:t>(Node.js + Express)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REST API endpoint routing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Controller &amp; Service separation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Input validation &amp; error handler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Nodemailer Gmail SMTP engine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Node-cron daily background scheduler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463040"/>
            <a:ext cx="338328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7C3AED"/>
                </a:solidFill>
              </a:defRPr>
            </a:pPr>
            <a:r>
              <a:t>DATABASE TIER</a:t>
            </a:r>
            <a:br/>
            <a:r>
              <a:t>(MySQL 8.0)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MySQL connection pooling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ACID atomic transactions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Foreign key cascade constraints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Structured audit notifications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Indexed search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B.TECH CSE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Relational Database Schema &amp; E-R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Library Management System | React.js • Node.js • MySQL • Nodemailer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6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5603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BOOKS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Catalog Master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id (INT, PK, AUTO_INCREMENT)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book_name (VARCHAR 255)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author (VARCHAR 255)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category (VARCHAR 100)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total_quantity (INT)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available_quantity (INT)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issued_quantity (INT)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STUDENTS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Borrower Directory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id (INT, PK, AUTO_INCREMENT)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student_name (VARCHAR 255)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email (VARCHAR 255, UNIQUE)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phone_number (VARCHAR 20)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created_at (TIMESTAMP)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603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ISSUES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Circulation Core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id (INT, PK, AUTO_INCREMENT)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student_id (INT, FK -&gt; students)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book_id (INT, FK -&gt; books)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issue_date (DATE)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due_date (DATE)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return_date (DATE, NULL)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status (Issued | Returned)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fine (DECIMAL 10,2)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603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NOTIFICATIONS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Audit Log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id (INT, PK, AUTO_INCREMENT)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student_id (INT, FK -&gt; students)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issue_id (INT, FK -&gt; issues)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email (VARCHAR 255)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notification_type (VARCHAR 100)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subject (VARCHAR 255)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status (Sent | Failed)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t>sent_at (TIMESTAMP)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B.TECH CSE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Core Functional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Library Management System | React.js • Node.js • MySQL • Nodemailer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7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Module 1: Authentication &amp; Security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Secures admin portal with credential verification, session management, and protected dashboard routing.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Module 2: Catalog &amp; Book Management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Handles full book inventory lifecycle with search, category filtering, stock adjustments, and soft safeguards.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Module 3: Student Directory Management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Maintains verified student profiles with email formatting checks, prerequisite for automated notifications.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01752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Module 4: Circulation &amp; Loan Tracker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Coordinates book checkouts and returns with real-time stock decrements and increments.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Module 5: Automated Fine Calculator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Implements mathematical overdue fee formula (₹50/day), providing clear breakdown on check-in.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66344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Module 6: Notification &amp; Audit Log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Tracks all automated and manual email communications, delivery statuses, and provides SMTP test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B.TECH CSE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Circulation Logic &amp; Dynamic Fine Calculation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Library Management System | React.js • Node.js • MySQL • Nodemailer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8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Book Checkout &amp; Return Workflow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E293B"/>
                </a:solidFill>
              </a:rPr>
              <a:t>1. Selection Validation:</a:t>
            </a:r>
            <a:r>
              <a:rPr sz="1200">
                <a:solidFill>
                  <a:srgbClr val="64748B"/>
                </a:solidFill>
              </a:rPr>
              <a:t> Only books with available_quantity &gt; 0 can be issued. Student info is auto-populated.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E293B"/>
                </a:solidFill>
              </a:rPr>
              <a:t>2. Atomic Transaction:</a:t>
            </a:r>
            <a:r>
              <a:rPr sz="1200">
                <a:solidFill>
                  <a:srgbClr val="64748B"/>
                </a:solidFill>
              </a:rPr>
              <a:t> Database transaction decrements available copies by 1, increments issued copies by 1, and saves issue record.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E293B"/>
                </a:solidFill>
              </a:rPr>
              <a:t>3. Immediate Confirmation:</a:t>
            </a:r>
            <a:r>
              <a:rPr sz="1200">
                <a:solidFill>
                  <a:srgbClr val="64748B"/>
                </a:solidFill>
              </a:rPr>
              <a:t> Nodemailer triggers an official checkout email receipt with book name, author, and due date.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E293B"/>
                </a:solidFill>
              </a:rPr>
              <a:t>4. Check-in Reconciliation:</a:t>
            </a:r>
            <a:r>
              <a:rPr sz="1200">
                <a:solidFill>
                  <a:srgbClr val="64748B"/>
                </a:solidFill>
              </a:rPr>
              <a:t> On return, status switches to Returned, inventory is incremented, and return confirmation is dispatched.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t>Overdue Fine Algorithm (₹50 / Day)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E293B"/>
                </a:solidFill>
              </a:rPr>
              <a:t>Formula: </a:t>
            </a:r>
            <a:r>
              <a:rPr sz="1200">
                <a:solidFill>
                  <a:srgbClr val="64748B"/>
                </a:solidFill>
              </a:rPr>
              <a:t> Overdue Days = Return Date − Due Date
Fine = Overdue Days × ₹50 (if Overdue Days &gt; 0, else ₹0)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E293B"/>
                </a:solidFill>
              </a:rPr>
              <a:t>Scenario A (On-Time Return): </a:t>
            </a:r>
            <a:r>
              <a:rPr sz="1200">
                <a:solidFill>
                  <a:srgbClr val="64748B"/>
                </a:solidFill>
              </a:rPr>
              <a:t> Due Date: 25-09-2026 | Return Date: 24-09-2026
Overdue Days: 0  ==&gt;  Fine Charged: ₹0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E293B"/>
                </a:solidFill>
              </a:rPr>
              <a:t>Scenario B (Overdue Return): </a:t>
            </a:r>
            <a:r>
              <a:rPr sz="1200">
                <a:solidFill>
                  <a:srgbClr val="64748B"/>
                </a:solidFill>
              </a:rPr>
              <a:t> Due Date: 25-09-2026 | Return Date: 28-09-2026
Overdue Days: 3  ==&gt;  Fine Charged: 3 × ₹50 = ₹150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E293B"/>
                </a:solidFill>
              </a:rPr>
              <a:t>Zero-Dispute Receipt: </a:t>
            </a:r>
            <a:r>
              <a:rPr sz="1200">
                <a:solidFill>
                  <a:srgbClr val="64748B"/>
                </a:solidFill>
              </a:rPr>
              <a:t> Fine calculation is recorded in MySQL and itemized directly inside the return confirmation email.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B.TECH CSE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Nodemailer Gmail SMTP &amp; Daily Reminder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Library Management System | React.js • Node.js • MySQL • Nodemailer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9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1. Issue Confirmation Email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Subject: Library Book Issued - [Book Name]</a:t>
            </a:r>
            <a:br/>
            <a:r>
              <a:t>Includes title, author, issue date, and due date deadline to ensure student awareness immediately on checkout.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2. Return Confirmation Email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Subject: Library Book Returned - [Book Name]</a:t>
            </a:r>
            <a:br/>
            <a:r>
              <a:t>Itemizes return date, due date, and exact fine charged (₹0 if on time, or ₹50/day overdue).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D97706"/>
                </a:solidFill>
              </a:defRPr>
            </a:pPr>
            <a:r>
              <a:t>3. Daily Due-Date Reminders (Cron)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Subject: Library Book Due Tomorrow</a:t>
            </a:r>
            <a:br/>
            <a:r>
              <a:t>Scheduled node-cron (0 9 * * *) scans loans every morning at 9:00 AM and alerts borrowers 24 hours prior.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t>4. Overdue Penalty Notices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Subject: Urgent: Overdue Library Book - [Book Name]</a:t>
            </a:r>
            <a:br/>
            <a:r>
              <a:t>Dispatches urgent notifications specifying accrued overdue fine and advising immediate return.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B.TECH CSE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9. Responsive User Interface &amp; Visual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Library Management System | React.js • Node.js • MySQL • Nodemailer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10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• Live Metric KPI Cards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Dynamic statistics computed live from MySQL: Total Books, Available Copies, Issued Books, Subject Categories, and Overdue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• Doughnut Chart (Availability)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Visualizes the circulation ratio comparing books ready on library shelves versus books currently with students.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• Bar Chart (Subject Breakdown)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Displays collection density per category (Computer Science, Web Development, AI, Database, Networking, etc.).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01752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• Circulation Activity Graph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Monthly comparative analysis tracking checkouts vs returns to observe academic exam-period trends.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• Responsive Dashboard Layout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Collapsible LIBRARY MENU sidebar, top navigation bar with DB health indicator, and mobile-friendly grid.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66344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• Search &amp; Filter Controls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Instant search bar and category dropdown filters for real-time querying across large book collections.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B.TECH CSE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10. Testing, Error Handling &amp; System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Library Management System | React.js • Node.js • MySQL • Nodemailer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11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✓  Database Disconnection Resilience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System displays live status badge in navbar and handles connection drops gracefully without crashing.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✓  Input Validation &amp; Format Checking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Prevents negative book quantities, duplicate book entries, and invalid student email structures.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✓  Zero Stock Borrowing Guard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Checkout dropdown dynamically restricts selections to available books only (available_quantity &gt; 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01752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✓  Transactional Rollbacks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Uses MySQL transactions to ensure inventory is never decremented if circulation recording fails.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✓  Non-Blocking Email Handling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If Gmail SMTP fails, book checkout/return remains safely saved; student and librarian receive clear status alert.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663440"/>
            <a:ext cx="5120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✓  Automated Test Suite (10/10 Passed)</a:t>
            </a:r>
          </a:p>
          <a:p>
            <a:pPr>
              <a:spcBef>
                <a:spcPts val="400"/>
              </a:spcBef>
              <a:defRPr sz="1150">
                <a:solidFill>
                  <a:srgbClr val="64748B"/>
                </a:solidFill>
              </a:defRPr>
            </a:pPr>
            <a:r>
              <a:t>Full REST API automated test suite verified health, CRUD, checkout, return, fine formula, and email logging.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B.TECH CSE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11. Project Results &amp; Measurable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Library Management System | React.js • Node.js • MySQL • Nodemailer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12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100% Paperless Operations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Completely replaces physical borrow registers, eliminating handwriting legibility errors and lost slips.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Automated Due Reminders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Automated reminders reduce overdue library books by up to 75% through timely advance notifications.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Exact Mathematical Transparency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Standardized ₹50/day fine formula removes student-librarian disputes over manual fee calculations.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7C3AED"/>
                </a:solidFill>
              </a:defRPr>
            </a:pPr>
            <a:r>
              <a:t>Instant Audit Compliance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Maintains permanent, queryable history of all book movements, return dates, and email communications.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B.TECH CSE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12. Future Scope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Library Management System | React.js • Node.js • MySQL • Nodemailer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563EB"/>
                </a:solidFill>
              </a:defRPr>
            </a:pPr>
            <a:r>
              <a:t>13 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✦  Barcode &amp; RFID Integration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Integrate barcode and RFID scanners at circulation counters for instant scanning without manual dropdowns.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✦  Student Mobile App &amp; Portal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Provide self-service student mobile application for searching catalog availability and viewing active loans.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✦  Online Book Reservations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Enable students to reserve books that are currently issued, placing them into a priority reservation queue.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✦  Digital Payment Gateway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Integrate UPI / Razorpay payment gateway for instant online payment of library overdue fines.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CONCLUSION</a:t>
            </a:r>
          </a:p>
          <a:p>
            <a:pPr algn="ctr"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Library Management System</a:t>
            </a:r>
          </a:p>
          <a:p>
            <a:pPr algn="ctr"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Successfully implements a robust, reliable, and automated full-stack academic library platform meeting all CSE engineering standards.</a:t>
            </a:r>
          </a:p>
          <a:p>
            <a:pPr algn="ctr">
              <a:spcBef>
                <a:spcPts val="2800"/>
              </a:spcBef>
              <a:defRPr sz="2400" b="1">
                <a:solidFill>
                  <a:srgbClr val="2563EB"/>
                </a:solidFill>
              </a:defRPr>
            </a:pPr>
            <a:r>
              <a:t>Thank You!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1656</Words>
  <Application>Microsoft Office PowerPoint</Application>
  <PresentationFormat>Custom</PresentationFormat>
  <Paragraphs>212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PC</cp:lastModifiedBy>
  <cp:revision>3</cp:revision>
  <dcterms:created xsi:type="dcterms:W3CDTF">2013-01-27T09:14:16Z</dcterms:created>
  <dcterms:modified xsi:type="dcterms:W3CDTF">2026-09-28T09:09:04Z</dcterms:modified>
  <cp:category/>
</cp:coreProperties>
</file>